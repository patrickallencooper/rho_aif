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99e075f32f84b86" /><Relationship Type="http://schemas.openxmlformats.org/officeDocument/2006/relationships/extended-properties" Target="/docProps/app.xml" Id="Rf9ef8178033d4404" /><Relationship Type="http://schemas.openxmlformats.org/officeDocument/2006/relationships/officeDocument" Target="/ppt/presentation.xml" Id="R974461d533dd4b5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5820a6a73294ce9"/>
  </p:sldMasterIdLst>
  <p:notesMasterIdLst>
    <p:notesMasterId xmlns:r="http://schemas.openxmlformats.org/officeDocument/2006/relationships" r:id="R3a98ffb89e5d45e5"/>
  </p:notesMasterIdLst>
  <p:sldIdLst>
    <p:sldId xmlns:r="http://schemas.openxmlformats.org/officeDocument/2006/relationships" id="256" r:id="R9b0c77725422451d"/>
    <p:sldId xmlns:r="http://schemas.openxmlformats.org/officeDocument/2006/relationships" id="257" r:id="R4c15808751764bb3"/>
    <p:sldId xmlns:r="http://schemas.openxmlformats.org/officeDocument/2006/relationships" id="258" r:id="R9e76164daeec490a"/>
    <p:sldId xmlns:r="http://schemas.openxmlformats.org/officeDocument/2006/relationships" id="259" r:id="Rad219f84afd64d1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6f7f500d319431e" /><Relationship Type="http://schemas.openxmlformats.org/officeDocument/2006/relationships/slideMaster" Target="/ppt/slideMasters/slideMaster1.xml" Id="Rc5820a6a73294ce9" /><Relationship Type="http://schemas.openxmlformats.org/officeDocument/2006/relationships/notesMaster" Target="/ppt/notesMasters/notesMaster1.xml" Id="R3a98ffb89e5d45e5" /><Relationship Type="http://schemas.openxmlformats.org/officeDocument/2006/relationships/presProps" Target="/ppt/presProps.xml" Id="Rcfe14d6e45ab4a89" /><Relationship Type="http://schemas.openxmlformats.org/officeDocument/2006/relationships/tableStyles" Target="/ppt/tableStyles.xml" Id="Ra6c269aa31624030" /><Relationship Type="http://schemas.openxmlformats.org/officeDocument/2006/relationships/slide" Target="/ppt/slides/slide1.xml" Id="R9b0c77725422451d" /><Relationship Type="http://schemas.openxmlformats.org/officeDocument/2006/relationships/slide" Target="/ppt/slides/slide2.xml" Id="R4c15808751764bb3" /><Relationship Type="http://schemas.openxmlformats.org/officeDocument/2006/relationships/slide" Target="/ppt/slides/slide3.xml" Id="R9e76164daeec490a" /><Relationship Type="http://schemas.openxmlformats.org/officeDocument/2006/relationships/slide" Target="/ppt/slides/slide4.xml" Id="Rad219f84afd64d1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f5a3e1f54e54c3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Monochrome">
      <a:dk1>
        <a:srgbClr val="000000"/>
      </a:dk1>
      <a:lt1>
        <a:srgbClr val="FFFFFF"/>
      </a:lt1>
      <a:dk2>
        <a:srgbClr val="111111"/>
      </a:dk2>
      <a:lt2>
        <a:srgbClr val="D4D4D4"/>
      </a:lt2>
      <a:accent1>
        <a:srgbClr val="111111"/>
      </a:accent1>
      <a:accent2>
        <a:srgbClr val="777777"/>
      </a:accent2>
      <a:accent3>
        <a:srgbClr val="BBBBBB"/>
      </a:accent3>
      <a:accent4>
        <a:srgbClr val="444444"/>
      </a:accent4>
      <a:accent5>
        <a:srgbClr val="999999"/>
      </a:accent5>
      <a:accent6>
        <a:srgbClr val="DDDDDD"/>
      </a:accent6>
      <a:hlink>
        <a:srgbClr val="111111"/>
      </a:hlink>
      <a:folHlink>
        <a:srgbClr val="575757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Monochrom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a991b77319343a1" /><Relationship Type="http://schemas.openxmlformats.org/officeDocument/2006/relationships/notesMaster" Target="/ppt/notesMasters/notesMaster1.xml" Id="R92181148d0234ea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78e5134363b42ce" /><Relationship Type="http://schemas.openxmlformats.org/officeDocument/2006/relationships/notesMaster" Target="/ppt/notesMasters/notesMaster1.xml" Id="R84f1a227c79940c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54fe4d41af946be" /><Relationship Type="http://schemas.openxmlformats.org/officeDocument/2006/relationships/notesMaster" Target="/ppt/notesMasters/notesMaster1.xml" Id="R36ddb9b2f68e47d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4e816c3acf44011" /><Relationship Type="http://schemas.openxmlformats.org/officeDocument/2006/relationships/notesMaster" Target="/ppt/notesMasters/notesMaster1.xml" Id="Rf1052ea05e3f4e0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0:00–0:28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Somewhere on this grid is a hidden target. The agent can buy a noisy scan, or choose one cell and end the search. A wrong choice is costly. Scanning forever is costly too.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Our accepted paper asks how expected free energy connects two questions: what should the agent learn, and when should it act?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AND BACKGROUND (not spoken)</a:t>
            </a:r>
          </a:p>
          <a:p xmlns:a="http://schemas.openxmlformats.org/drawingml/2006/main">
            <a:r>
              <a:t>Accepted paper: paper/paper_iwai2026_abridged.tex, title and Tileworld setup. Current code: rho_aif/environments/tileworld.py. The 4×4 grid is an illustrative uniform belief over one hidden target, not a measured trajectory. There is no agent location, movement, wall or path in this environment. Dot area denotes probability of the target being in that cell.</a:t>
            </a:r>
          </a:p>
          <a:p xmlns:a="http://schemas.openxmlformats.org/drawingml/2006/main">
            <a:r>
              <a:t>OpenReview https://openreview.net/forum?id=jYHOHuD8CO. No generated imagery or external media are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0:28–1:17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Start with equal probability across the grid. This scan asks whether the target is in the top half. It is eighty percent accurate, so a positive signal puts eighty percent of the probability in that half. The target itself stays fixed.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For the reward-based recursion we study, minimizing EFE is equivalent to planning with reward plus expected information gain. That is a rho-POMDP with belief-dependent utility.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result requires exact Bayesian updates, matched horizons and units, and the stated reward convention. Weight one is not a universal exchange rate between arbitrary rewards and information.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AND BACKGROUND (not spoken)</a:t>
            </a:r>
          </a:p>
          <a:p xmlns:a="http://schemas.openxmlformats.org/drawingml/2006/main">
            <a:r>
              <a:t>Accepted paper equivalence proposition; corrected qualifications in paper/full_paper_jair.tex Sections 3.2–3.4. Exact Bayesian beliefs, matched horizon and terminal condition, consistent units, hidden-state-preserving sensing and the same tie rule are required. Both objectives retain future value. Exact reward identification uses log-score preferences with normalizer one, or the proved conditional construction. General empirical rewards use the stated convention; a policy-dependent log normalizer cannot generally be dropped. Canonical w=1 is unit-dependent. The slide-3 empirical convention is one reward unit per bit, whereas exactly nat-canonical weighting is ln(2) in bit units.</a:t>
            </a:r>
          </a:p>
          <a:p xmlns:a="http://schemas.openxmlformats.org/drawingml/2006/main">
            <a:r>
              <a:t>Schematic: TileworldEnv(grid_size=4), uniform prior 1/16, row-high-bit scan action1, signal0. Bayes gives top-eight-cell probabilities .1 each and bottom-eight-cell probabilities .025 each, i.e. half-grid masses .8/.2. The signal is 80% accurate and costs1 reward unit. Dots encode these probabilities by area, not diameter. The lower half remains possible. Independently verified from get_observation_models(), no simulated trajectory.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1:17–2:08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Now enlarge the grid to eight by eight, with planning limited to a two-step horizon.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reward-only planner takes no scans and succeeds just one point four percent of the time. Weight-one EFE keeps scanning and reaches about sixty-nine percent.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much larger information weight reaches almost ninety-eight percent, but its extra scans reduce net reward.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These are updated measurements from one thousand episodes across five seeds. They expose a shallow-planning limitation, not a failure of reward-only planning at every depth. At smaller grid sizes, the reward-only and EFE agents perform similarly.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AND BACKGROUND (not spoken)</a:t>
            </a:r>
          </a:p>
          <a:p xmlns:a="http://schemas.openxmlformats.org/drawingml/2006/main">
            <a:r>
              <a:t>Updated values from results/results_tileworld_scaling.csv, grid_size=8, agents Planning/EFE/Planning+IG. All H=2. Five seeds 42,123,456,789,1024 with 200 episodes per seed; row metadata git82ed4eb generated2026-08-20. Values: Planning success.014 (seed SE.0029154759474), scans0, reward−49.16 (seed SE.1749285568454). EFE success.694 (seed SE.010416333328), scans17.496, reward−25.856 (seed SE.677027325889). Planning+IG success.978 (seed SE.005830951895), scans39.52, reward−30.84 (seed SE.386574701707). Native chart values are the unrounded success rates.</a:t>
            </a:r>
          </a:p>
          <a:p xmlns:a="http://schemas.openxmlformats.org/drawingml/2006/main">
            <a:r>
              <a:t>IMPORTANT: w=100 is fixed in this scaling battery, NOT success-tuned. Both other comparisons fix the same model and depth, not compute. No formal significance test is reported for this scaling battery. This is a shallow-horizon illustration, not a claim that arbitrary-depth planning fails or that the benefit increases universally with grid size. At4×4/6×6, the reward-only and EFE rates are close. Reported net reward equals60×success−50−mean_scans and excludes the information bonus. All three reported rewards are negative.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2:08–2:54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Our subsequent work asks how to calibrate that weight to an expected sensing target.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Measure usage across weights. When two policies straddle the target, a mixture can match it on calibration 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Across twelve attainable target cases in three other simulated tasks, held-out mean error is at most zero point one three observations. These targets come from calibration curves.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This is expected usage, not a per-episode cap or a guarantee of maximum reward. On recorded sensor data, the policies overspend on later batches.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Please visit our poster to discuss these trade-offs.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AND BACKGROUND (not spoken)</a:t>
            </a:r>
          </a:p>
          <a:p xmlns:a="http://schemas.openxmlformats.org/drawingml/2006/main">
            <a:r>
              <a:t>Subsequent research, permitted by the chair according to the presenter. Source: current paper/full_paper_jair.tex, Definition PI-3 and budget-frontier study. The diagram is schematic: two endpoint policies have expected calibration usages on either side of B. A probability mixture can match B in calibration. No numeric curve, simulated trajectory, monotonicity or held-out guarantee is implied.</a:t>
            </a:r>
          </a:p>
          <a:p xmlns:a="http://schemas.openxmlformats.org/drawingml/2006/main">
            <a:r>
              <a:t>results/results_budget_frontier.csv: twelve attainable policy=mixture rows with held-out usage. Twelve target cases across Tiger/Diagnosis/Bandit correspond to eleven distinct environment-budget pairs because two Tiger requests coincide. Maximum absolute held-out mean usage error=.123, reported≤.13. Three below-range requests fail and are excluded by attainable. Targets came from a predeclared rule on calibration curves, not an operator. The twelve cases do NOT include Tileworld.</a:t>
            </a:r>
          </a:p>
          <a:p xmlns:a="http://schemas.openxmlformats.org/drawingml/2006/main">
            <a:r>
              <a:t>A target on expected usage differs from a per-episode cap and from constrained reward maximization. Public-sensor replay transfer caveat is spoken: later collection batches overspend, as reported in results/results_real_sensor_summary.csv. No deployment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b4624262b54dc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9d8dbdf28e456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e3adae17704ad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c42b3cd7d1421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a6551901b844d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378f752ef8402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41E285E-CFB5-49DD-97AF-4EF4E7A980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BBC20EB-7880-43CB-8BEC-2658D06D0E4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5C07A58-3379-4852-BEE4-21EE596F0E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57146A1-E7D7-41CB-AB32-0532B2AC89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1D27D03-EB79-4DAA-9376-73C8BCD788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86E442F-F1ED-44D3-8399-5B0E64F9A7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14A4D33-5867-4217-BD9B-FC844350B0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8758D79-F6C5-4688-8422-815D1147210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207B78B-D026-40E5-BFDF-2AF5D38849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A2596BB-6259-416E-9903-39C7EBB5F9D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337b2e336154fed" /><Relationship Type="http://schemas.openxmlformats.org/officeDocument/2006/relationships/slideLayout" Target="/ppt/slideLayouts/slideLayout1.xml" Id="Rb02e927937c44d2a" /><Relationship Type="http://schemas.openxmlformats.org/officeDocument/2006/relationships/slideLayout" Target="/ppt/slideLayouts/slideLayout2.xml" Id="Rcea19325782e4fcc" /><Relationship Type="http://schemas.openxmlformats.org/officeDocument/2006/relationships/slideLayout" Target="/ppt/slideLayouts/slideLayout3.xml" Id="R5b202ccfa0474017" /><Relationship Type="http://schemas.openxmlformats.org/officeDocument/2006/relationships/slideLayout" Target="/ppt/slideLayouts/slideLayout4.xml" Id="R7a2b52e021624807" /><Relationship Type="http://schemas.openxmlformats.org/officeDocument/2006/relationships/slideLayout" Target="/ppt/slideLayouts/slideLayout5.xml" Id="Rb68e19cbae47437a" /><Relationship Type="http://schemas.openxmlformats.org/officeDocument/2006/relationships/slideLayout" Target="/ppt/slideLayouts/slideLayout6.xml" Id="R4d0aa593fc6c461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02e927937c44d2a"/>
    <p:sldLayoutId xmlns:r="http://schemas.openxmlformats.org/officeDocument/2006/relationships" id="2147483650" r:id="Rcea19325782e4fcc"/>
    <p:sldLayoutId xmlns:r="http://schemas.openxmlformats.org/officeDocument/2006/relationships" id="2147483651" r:id="R5b202ccfa0474017"/>
    <p:sldLayoutId xmlns:r="http://schemas.openxmlformats.org/officeDocument/2006/relationships" id="2147483652" r:id="R7a2b52e021624807"/>
    <p:sldLayoutId xmlns:r="http://schemas.openxmlformats.org/officeDocument/2006/relationships" id="2147483653" r:id="Rb68e19cbae47437a"/>
    <p:sldLayoutId xmlns:r="http://schemas.openxmlformats.org/officeDocument/2006/relationships" id="2147483654" r:id="R4d0aa593fc6c461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Monochrome">
      <a:dk1>
        <a:srgbClr val="000000"/>
      </a:dk1>
      <a:lt1>
        <a:srgbClr val="FFFFFF"/>
      </a:lt1>
      <a:dk2>
        <a:srgbClr val="111111"/>
      </a:dk2>
      <a:lt2>
        <a:srgbClr val="D4D4D4"/>
      </a:lt2>
      <a:accent1>
        <a:srgbClr val="111111"/>
      </a:accent1>
      <a:accent2>
        <a:srgbClr val="777777"/>
      </a:accent2>
      <a:accent3>
        <a:srgbClr val="BBBBBB"/>
      </a:accent3>
      <a:accent4>
        <a:srgbClr val="444444"/>
      </a:accent4>
      <a:accent5>
        <a:srgbClr val="999999"/>
      </a:accent5>
      <a:accent6>
        <a:srgbClr val="DDDDDD"/>
      </a:accent6>
      <a:hlink>
        <a:srgbClr val="111111"/>
      </a:hlink>
      <a:folHlink>
        <a:srgbClr val="575757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Monochrom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f5875371e84e67" /><Relationship Type="http://schemas.openxmlformats.org/officeDocument/2006/relationships/notesSlide" Target="/ppt/notesSlides/notesSlide1.xml" Id="Ra595428d056a48c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80d466dfde4721" /><Relationship Type="http://schemas.openxmlformats.org/officeDocument/2006/relationships/notesSlide" Target="/ppt/notesSlides/notesSlide2.xml" Id="Rfe60f3c3c6994f2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044f50018e4835" /><Relationship Type="http://schemas.openxmlformats.org/officeDocument/2006/relationships/chart" Target="/ppt/slides/charts/chart1.xml" Id="Rd53c27416bee4519" /><Relationship Type="http://schemas.openxmlformats.org/officeDocument/2006/relationships/notesSlide" Target="/ppt/notesSlides/notesSlide3.xml" Id="R68a806ac094644a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7de8bff1924f05" /><Relationship Type="http://schemas.openxmlformats.org/officeDocument/2006/relationships/notesSlide" Target="/ppt/notesSlides/notesSlide4.xml" Id="R5f82ecb67b3b4745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Success rate</c:v>
          </c:tx>
          <c:spPr>
            <a:solidFill xmlns:a="http://schemas.openxmlformats.org/drawingml/2006/main">
              <a:srgbClr val="111111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AAAAAA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111111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AAAAAA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Reward only (w = 0)
0 scans
Reward −49.16</c:v>
                </c:pt>
                <c:pt idx="1">
                  <c:v>EFE (w = 1)
17.5 scans
Reward −25.86</c:v>
                </c:pt>
                <c:pt idx="2">
                  <c:v>High weight (w = 100)
39.5 scans
Reward −30.84</c:v>
                </c:pt>
              </c:strCache>
            </c:strRef>
          </c:cat>
          <c:val>
            <c:numRef>
              <c:f>'Chart Data'!$B$2:$B$4</c:f>
              <c:numCache>
                <c:formatCode>0%</c:formatCode>
                <c:ptCount val="3"/>
                <c:pt idx="0">
                  <c:v>0.014</c:v>
                </c:pt>
                <c:pt idx="1">
                  <c:v>0.694</c:v>
                </c:pt>
                <c:pt idx="2">
                  <c:v>0.978</c:v>
                </c:pt>
              </c:numCache>
            </c:numRef>
          </c:val>
        </c:ser>
        <c:dLbls>
          <c:numFmt formatCode="0.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250" b="1">
                  <a:solidFill>
                    <a:srgbClr val="111111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.2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4D4D4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75757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section">
            <a:extLst xmlns:a="http://schemas.openxmlformats.org/drawingml/2006/main">
              <a:ext uri="{FF2B5EF4-FFF2-40B4-BE49-F238E27FC236}">
                <a16:creationId xmlns:a16="http://schemas.microsoft.com/office/drawing/2014/main" id="{8F0D9944-2368-42E3-9777-633785959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7575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75757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575757"/>
                </a:solidFill>
                <a:latin typeface="Courier New"/>
                <a:ea typeface="Courier New"/>
                <a:cs typeface="Courier New"/>
              </a:rPr>
              <a:t>01  /  THE SENSING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07A036-B9A7-4948-B1C5-C2B545BBA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757D5FA9-B598-424D-95BF-7739052F8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7575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75757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575757"/>
                </a:solidFill>
                <a:latin typeface="Courier New"/>
                <a:ea typeface="Courier New"/>
                <a:cs typeface="Courier New"/>
              </a:rPr>
              <a:t>IWAI 2026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D388331C-E0D5-4C99-BF54-804A35D56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032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7575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575757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575757"/>
                </a:solidFill>
                <a:latin typeface="Courier New"/>
                <a:ea typeface="Courier New"/>
                <a:cs typeface="Courier New"/>
              </a:rPr>
              <a:t>1 / 4</a:t>
            </a:r>
          </a:p>
        </p:txBody>
      </p:sp>
      <p:sp>
        <p:nvSpPr>
          <p:cNvPr id="5" name="accepted-title">
            <a:extLst xmlns:a="http://schemas.openxmlformats.org/drawingml/2006/main">
              <a:ext uri="{FF2B5EF4-FFF2-40B4-BE49-F238E27FC236}">
                <a16:creationId xmlns:a16="http://schemas.microsoft.com/office/drawing/2014/main" id="{0D406CB6-EA62-4BDF-AD96-F2D60EA78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04900"/>
            <a:ext cx="704850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Expected Free Energy</a:t>
            </a:r>
          </a:p>
          <a:p xmlns:a="http://schemas.openxmlformats.org/drawingml/2006/main">
            <a:pPr algn="l">
              <a:defRPr sz="4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as Belief-Dependent</a:t>
            </a:r>
          </a:p>
          <a:p xmlns:a="http://schemas.openxmlformats.org/drawingml/2006/main">
            <a:pPr algn="l">
              <a:defRPr sz="4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Utility for ρ-POMDPs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9F40A2-3E57-4466-8226-489544AAA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81400"/>
            <a:ext cx="695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Where is the target?</a:t>
            </a:r>
          </a:p>
          <a:p xmlns:a="http://schemas.openxmlformats.org/drawingml/2006/main">
            <a:pPr algn="l">
              <a:defRPr sz="27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When should we stop looking?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F255D3-1318-4CF8-9739-2C132212D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228725"/>
            <a:ext cx="7143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9999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D68D4D-D178-47FC-94BD-59FAC6053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6313" y="1443038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207B87-11C8-446D-876D-2D6D67305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228725"/>
            <a:ext cx="7143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9999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D9FDFB-2DE8-4312-B548-98E152C85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0688" y="1443038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50D19D-A441-4B14-8142-60EC89777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228725"/>
            <a:ext cx="7143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99999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541E45-4719-4552-A9B9-09E953433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5063" y="1443038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0F9DB3-ACD4-4A7B-BE52-D1EA3A671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1228725"/>
            <a:ext cx="7143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99999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467088-22A7-44E3-95F8-5C5DB34C5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9438" y="1443038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903060-9BAF-4DD4-9BFB-CFA42A6C4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43100"/>
            <a:ext cx="7143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99999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39FEB2-9509-4DE6-9983-E63AE1F87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6313" y="2157413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72430B-7292-4157-98FD-AFFFBC200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943100"/>
            <a:ext cx="7143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99999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5DFF62-A98E-4590-9674-AD1EB14E6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0688" y="2157413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88C25C-8895-4E7B-B971-95B429068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943100"/>
            <a:ext cx="7143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9999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E06B4B-DE0B-4189-82FA-BE774E4A1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5063" y="2157413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B9E29F-7A80-4C51-AE09-3A786F896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1943100"/>
            <a:ext cx="7143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99999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5F69AD-84F0-4BEF-9F21-7CCC2C3A4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9438" y="2157413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257CBA-D6F1-4A9A-8889-55D457417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57475"/>
            <a:ext cx="7143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99999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B5917B-A892-4F82-A001-C5608DEB7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6313" y="2871788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C9B194-D0E7-437F-A156-6F379A77C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657475"/>
            <a:ext cx="7143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99999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A6A371-D409-4233-B7D7-EF689D332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0688" y="2871788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312146-868A-4259-BF38-D4CA7B0CA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57475"/>
            <a:ext cx="7143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99999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B61C59-18AE-434C-817C-4135FFD0A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5063" y="2871788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5FD8DE-15A3-42B3-B81A-77D783C6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657475"/>
            <a:ext cx="7143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99999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7EE2EC9-744F-4336-AF95-B5A5A439D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9438" y="2871788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6CFD5B-D99D-4B90-B962-FD19B32BE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71850"/>
            <a:ext cx="7143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99999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EC10849-6B42-4ACE-A157-68BE03DD9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6313" y="3586163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E305251-4A09-47D8-86DA-4D276FBF8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371850"/>
            <a:ext cx="7143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99999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FBCB30F-EF0A-4E48-AAE5-E4194BB80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0688" y="3586163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1E462E1-0164-4943-9432-189DDAFBD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371850"/>
            <a:ext cx="7143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99999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6DFF767-3CAE-43AC-B5BC-B8F484175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5063" y="3586163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D56B818-3FCA-415A-878D-712E555F4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371850"/>
            <a:ext cx="7143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99999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4188308-BC72-4C7B-B128-C78B8F644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9438" y="3586163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FBA8E64-198E-4072-B6A6-D60A2E09C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324350"/>
            <a:ext cx="323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4 × 4 Tileworld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420FFD7-CBBD-457B-ACA4-F9129C7C6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4781550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75" b="0">
                <a:solidFill>
                  <a:srgbClr val="575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57575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75757"/>
                </a:solidFill>
                <a:latin typeface="Arial"/>
                <a:ea typeface="Arial"/>
                <a:cs typeface="Arial"/>
              </a:rPr>
              <a:t>One hidden target.</a:t>
            </a:r>
          </a:p>
          <a:p xmlns:a="http://schemas.openxmlformats.org/drawingml/2006/main">
            <a:pPr algn="ctr">
              <a:defRPr sz="1875" b="0">
                <a:solidFill>
                  <a:srgbClr val="57575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75757"/>
                </a:solidFill>
                <a:latin typeface="Arial"/>
                <a:ea typeface="Arial"/>
                <a:cs typeface="Arial"/>
              </a:rPr>
              <a:t>All cells equally likely.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1B0B2A0-ECA7-43A3-ACE8-9AF271DE1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00675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Patrick Cooper and Alvaro Velasquez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27B51F8-0702-4B04-90BD-76FBB98BC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48350"/>
            <a:ext cx="723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75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7575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75757"/>
                </a:solidFill>
                <a:latin typeface="Arial"/>
                <a:ea typeface="Arial"/>
                <a:cs typeface="Arial"/>
              </a:rPr>
              <a:t>University of Colorado Boulder</a:t>
            </a:r>
          </a:p>
        </p:txBody>
      </p:sp>
    </p:spTree>
    <p:extLst>
      <p:ext uri="{BB962C8B-B14F-4D97-AF65-F5344CB8AC3E}">
        <p14:creationId xmlns:p14="http://schemas.microsoft.com/office/powerpoint/2010/main" val="17387519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2" name="section">
            <a:extLst xmlns:a="http://schemas.openxmlformats.org/drawingml/2006/main">
              <a:ext uri="{FF2B5EF4-FFF2-40B4-BE49-F238E27FC236}">
                <a16:creationId xmlns:a16="http://schemas.microsoft.com/office/drawing/2014/main" id="{9CB177E5-D45D-406F-B5AF-005B8A7C3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7575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75757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575757"/>
                </a:solidFill>
                <a:latin typeface="Courier New"/>
                <a:ea typeface="Courier New"/>
                <a:cs typeface="Courier New"/>
              </a:rPr>
              <a:t>02  /  THE ACCEPTED CONTRIBUTION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A6EA53-2AD1-4FB4-A91B-844B2F14E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8E058AD-92DF-4407-B015-C864C975A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90600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EFE as belief-dependent utility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8F829435-EAF8-45BE-B87B-C482AAC20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7575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75757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575757"/>
                </a:solidFill>
                <a:latin typeface="Courier New"/>
                <a:ea typeface="Courier New"/>
                <a:cs typeface="Courier New"/>
              </a:rPr>
              <a:t>IWAI 2026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9C2B094-1CAF-4B20-9A6A-2813E9F7D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032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7575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575757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575757"/>
                </a:solidFill>
                <a:latin typeface="Courier New"/>
                <a:ea typeface="Courier New"/>
                <a:cs typeface="Courier New"/>
              </a:rPr>
              <a:t>2 / 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B781C4-ABBC-4E55-8101-9C03C9830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9547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expected reward  +  w × information gain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6F56FD-FC0A-4281-8116-6F4EA21CA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2890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75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57575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75757"/>
                </a:solidFill>
                <a:latin typeface="Arial"/>
                <a:ea typeface="Arial"/>
                <a:cs typeface="Arial"/>
              </a:rPr>
              <a:t>Per-step utility in the specified reward-based recursion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7C357F-5477-4988-B9E2-43AC1F58D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766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9999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E578D1-3ED7-4997-89CA-0E50BE816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8" y="3605213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618955-EAC2-4AB3-BF40-0CF2D5A9B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766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9999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5DABF5-FF1A-4DF9-AD17-699E8B621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3" y="3605213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EE5E3A-9BA5-42DC-9E7C-8CEDBFCDA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766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99999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A37BB7-5AA2-48FB-8346-95962C394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7338" y="3605213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E091C8-2D0C-443F-A238-5CBF13086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4766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99999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B515CD-F8B8-4FB5-9A01-E4521C8D5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5963" y="3605213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40CC1F-2052-4F74-9AE8-7FED04E6B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052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9999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F1626E-4521-449A-A78A-90E48CF4C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8" y="4033838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A3906C-1390-46B3-A5A8-A3756D2E5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052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99999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85B6A7-684F-4757-BB3F-3589F043F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3" y="4033838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AEBED4-7203-47BA-96A2-4336A7B0A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052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9999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719F25-28D1-4575-A855-87131B7A3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7338" y="4033838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B291C7-94AA-4353-B7B9-54E0A788A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9052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99999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E08AFB-2B48-4989-8584-90B8DB301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5963" y="4033838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8E3442-F552-46F0-902E-BCFA18FC5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338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99999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D39FCC-5170-48D0-87CC-513A16A3E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8" y="4462463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973D81-6C40-45F1-9ABC-12AB8C64B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338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99999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91118A-7E0F-4786-8B6C-6CE3CF983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3" y="4462463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3D1AAB-241F-4A22-AB2E-17D82EEC1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338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99999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FB6B69-06B0-4214-8499-B84886744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7338" y="4462463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73BC4AC-234C-433F-8EC7-D9156B0AC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3338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99999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A8E296E-C2BE-419A-9D31-65BBFAC9A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5963" y="4462463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1F371D-821F-40A4-BF6C-8DFB2F409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99999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3C9D7B7-79E1-45BE-826D-F1C1E6ECE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8" y="4891088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730ADA4-BF73-422C-B4AC-ACBF1037A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625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99999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1D60DF3-10F8-40BC-AA57-DB3EEC1C3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3" y="4891088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771D244-1C27-438E-986E-56BD61F1C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625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99999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47A423E-AEB1-475C-9377-6AFC29185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7338" y="4891088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1FFF93B-DCFD-4919-B103-FE7ED3A47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7625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99999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11B8CE9-2D65-4B6E-B1B7-4EC90AB9F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5963" y="4891088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FB10105-8197-4763-8082-046A3852C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34352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575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57575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75757"/>
                </a:solidFill>
                <a:latin typeface="Arial"/>
                <a:ea typeface="Arial"/>
                <a:cs typeface="Arial"/>
              </a:rPr>
              <a:t>Before scanning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F451AE8-25F7-4BEA-A090-5CD6AA9CC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4229100"/>
            <a:ext cx="76200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29D3E83-181E-4AC0-87C6-785A84D1C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4099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Noisy scan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CE7D4D2-6999-401C-A6B9-D6BEFB15C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676775"/>
            <a:ext cx="2000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75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7575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75757"/>
                </a:solidFill>
                <a:latin typeface="Arial"/>
                <a:ea typeface="Arial"/>
                <a:cs typeface="Arial"/>
              </a:rPr>
              <a:t>80% accurate</a:t>
            </a:r>
          </a:p>
          <a:p xmlns:a="http://schemas.openxmlformats.org/drawingml/2006/main">
            <a:pPr algn="l">
              <a:defRPr sz="1875" b="0">
                <a:solidFill>
                  <a:srgbClr val="57575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75757"/>
                </a:solidFill>
                <a:latin typeface="Arial"/>
                <a:ea typeface="Arial"/>
                <a:cs typeface="Arial"/>
              </a:rPr>
              <a:t>costs 1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27046F8-7DB7-4BFF-8624-DBE4782A1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4766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99999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38A42E4-B0D4-4F55-86C3-3EB76F87F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5503" y="3582503"/>
            <a:ext cx="216869" cy="2168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DBC2C9C-591D-44DC-A037-D991AD5B5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4766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99999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752C9AD-0119-4A69-91C0-50D341FB1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4128" y="3582503"/>
            <a:ext cx="216869" cy="2168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00A60BE-9D8A-4514-8AC5-91559247C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4766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99999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E27E94A-6B7B-48AA-9C50-460A58902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2753" y="3582503"/>
            <a:ext cx="216869" cy="2168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349C628-46C9-4FE0-9CC5-C55028F04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4766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99999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0CB679B-DF31-4966-A726-26CEBE5C3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1378" y="3582503"/>
            <a:ext cx="216869" cy="2168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20034BA-67DB-4298-8B94-958D664DA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9052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99999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5BC73E0-B9DB-43BE-BCC8-73C4861BE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5503" y="4011128"/>
            <a:ext cx="216869" cy="2168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7A5D2D3-A50A-4210-B59E-9AEFF3A9D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9052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99999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89711CB-E758-43EC-99DF-27443E5B6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4128" y="4011128"/>
            <a:ext cx="216869" cy="2168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722E405-D788-4A3E-A960-061A12306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9052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99999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B8B1DAE-B5A5-4BD3-97D2-E0EC312C0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2753" y="4011128"/>
            <a:ext cx="216869" cy="2168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5DD135C-2187-4C46-AD21-864C728BC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9052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99999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7FFFB6B-9243-463A-9778-F306D7825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1378" y="4011128"/>
            <a:ext cx="216869" cy="2168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368422B-C1C8-4637-9D12-FF79A8003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3338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99999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50F3C67-3D04-4195-9462-3E70E0B24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9720" y="4493970"/>
            <a:ext cx="108435" cy="1084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5C72245-EDA4-462C-817C-51D716232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3338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99999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780D83C-F5BB-43D9-90E6-E1F110D40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8345" y="4493970"/>
            <a:ext cx="108435" cy="1084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9CC3340-53D1-4773-B419-225C38FE4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3338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99999"/>
            </a:solidFill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A5EDB8E-A669-430A-933E-48AC79E40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6970" y="4493970"/>
            <a:ext cx="108435" cy="1084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F49D38D-D7C3-46DF-821B-96A488AA2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3338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99999"/>
            </a:solidFill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C866564-A4DA-4959-BD12-670CB3EE2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5595" y="4493970"/>
            <a:ext cx="108435" cy="1084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2429C3F-C51F-4F1C-8CF9-72D4D95F5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7625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99999"/>
            </a:solidFill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477A9B1-68B1-41B9-9B07-D947AAA7B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9720" y="4922595"/>
            <a:ext cx="108435" cy="1084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53DDDC4-98AC-4D3B-946A-3A2119651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7625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99999"/>
            </a:solidFill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4535FB9-47CD-4B72-AB0B-B89E1B2E5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8345" y="4922595"/>
            <a:ext cx="108435" cy="1084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F1BD937-67AF-4483-8647-4367C6A5A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7625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99999"/>
            </a:solidFill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B806276-FB8F-42D2-8EB5-B1003270A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6970" y="4922595"/>
            <a:ext cx="108435" cy="1084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978C359-B65F-4A0A-BAD1-B8E7A6ECE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7625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99999"/>
            </a:solidFill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9305432-4055-4784-9618-5C1E4BA6A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5595" y="4922595"/>
            <a:ext cx="108435" cy="1084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979317D-83C5-4661-AC03-EC2F26CD5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34352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575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57575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75757"/>
                </a:solidFill>
                <a:latin typeface="Arial"/>
                <a:ea typeface="Arial"/>
                <a:cs typeface="Arial"/>
              </a:rPr>
              <a:t>After “top half”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B4FCA11-C3AC-4FDE-9898-A80ADED3D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705225"/>
            <a:ext cx="1000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80%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6A70105-BF8E-4443-B780-783251921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4572000"/>
            <a:ext cx="1000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20%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50CCFF1-E11D-4A61-998A-BF82EC184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54330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EFE uses w = 1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E359F1F-6EC3-4C37-AB5C-0AB418393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086225"/>
            <a:ext cx="3190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75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57575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75757"/>
                </a:solidFill>
                <a:latin typeface="Arial"/>
                <a:ea typeface="Arial"/>
                <a:cs typeface="Arial"/>
              </a:rPr>
              <a:t>under the stated</a:t>
            </a:r>
          </a:p>
          <a:p xmlns:a="http://schemas.openxmlformats.org/drawingml/2006/main">
            <a:pPr algn="l">
              <a:defRPr sz="1950" b="0">
                <a:solidFill>
                  <a:srgbClr val="57575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75757"/>
                </a:solidFill>
                <a:latin typeface="Arial"/>
                <a:ea typeface="Arial"/>
                <a:cs typeface="Arial"/>
              </a:rPr>
              <a:t>assumptions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BD648C2-C519-4C65-9326-1FBA86765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9775"/>
            <a:ext cx="10953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75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7575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75757"/>
                </a:solidFill>
                <a:latin typeface="Arial"/>
                <a:ea typeface="Arial"/>
                <a:cs typeface="Arial"/>
              </a:rPr>
              <a:t>Illustrative update. Dot area shows cell probability.</a:t>
            </a:r>
          </a:p>
        </p:txBody>
      </p:sp>
    </p:spTree>
    <p:extLst>
      <p:ext uri="{BB962C8B-B14F-4D97-AF65-F5344CB8AC3E}">
        <p14:creationId xmlns:p14="http://schemas.microsoft.com/office/powerpoint/2010/main" val="11710694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ection">
            <a:extLst xmlns:a="http://schemas.openxmlformats.org/drawingml/2006/main">
              <a:ext uri="{FF2B5EF4-FFF2-40B4-BE49-F238E27FC236}">
                <a16:creationId xmlns:a16="http://schemas.microsoft.com/office/drawing/2014/main" id="{4375BC08-1AF9-41DE-B6BA-22D55436C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7575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75757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575757"/>
                </a:solidFill>
                <a:latin typeface="Courier New"/>
                <a:ea typeface="Courier New"/>
                <a:cs typeface="Courier New"/>
              </a:rPr>
              <a:t>03  /  THE GRID-WORLD RESULT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36405D-7C3E-43BB-BDD9-8864FD236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E17B553-7C73-46DE-8F21-43EBB6B4A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90600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More certainty can cost more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E506596B-07B3-4AD8-8DEC-A4E57E22C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7575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75757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575757"/>
                </a:solidFill>
                <a:latin typeface="Courier New"/>
                <a:ea typeface="Courier New"/>
                <a:cs typeface="Courier New"/>
              </a:rPr>
              <a:t>IWAI 2026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F303077-483F-4882-B6CC-5BDDB7F4C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032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7575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575757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575757"/>
                </a:solidFill>
                <a:latin typeface="Courier New"/>
                <a:ea typeface="Courier New"/>
                <a:cs typeface="Courier New"/>
              </a:rPr>
              <a:t>3 / 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E83F6C-FB1E-4B58-9005-69A7081F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52600"/>
            <a:ext cx="1095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5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7575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75757"/>
                </a:solidFill>
                <a:latin typeface="Arial"/>
                <a:ea typeface="Arial"/>
                <a:cs typeface="Arial"/>
              </a:rPr>
              <a:t>8 × 8 Tileworld. All three planners look ahead two steps.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4F04D223-E72D-4D2B-98F0-B7D66DC7E5A4}"/>
              </a:ext>
            </a:extLst>
          </p:cNvPr>
          <p:cNvGraphicFramePr/>
          <p:nvPr/>
        </p:nvGraphicFramePr>
        <p:xfrm>
          <a:off xmlns:a="http://schemas.openxmlformats.org/drawingml/2006/main" x="542925" y="2409825"/>
          <a:ext xmlns:a="http://schemas.openxmlformats.org/drawingml/2006/main" cx="11029950" cy="33718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53c27416bee4519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9F2F9E-F842-42AB-8C4A-D05F98AA9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28850"/>
            <a:ext cx="2476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75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7575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75757"/>
                </a:solidFill>
                <a:latin typeface="Arial"/>
                <a:ea typeface="Arial"/>
                <a:cs typeface="Arial"/>
              </a:rPr>
              <a:t>Success rate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70E5E2-071F-4183-ADBA-2402E4AF9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75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7575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75757"/>
                </a:solidFill>
                <a:latin typeface="Arial"/>
                <a:ea typeface="Arial"/>
                <a:cs typeface="Arial"/>
              </a:rPr>
              <a:t>Means over 5 seeds × 200 episodes. Reward includes scan costs.</a:t>
            </a:r>
          </a:p>
          <a:p xmlns:a="http://schemas.openxmlformats.org/drawingml/2006/main">
            <a:pPr algn="l">
              <a:defRPr sz="1500" b="0">
                <a:solidFill>
                  <a:srgbClr val="57575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75757"/>
                </a:solidFill>
                <a:latin typeface="Arial"/>
                <a:ea typeface="Arial"/>
                <a:cs typeface="Arial"/>
              </a:rPr>
              <a:t>At this horizon, reward-only planning takes no scans. EFE uses 1 reward unit per bit.</a:t>
            </a:r>
          </a:p>
        </p:txBody>
      </p:sp>
    </p:spTree>
    <p:extLst>
      <p:ext uri="{BB962C8B-B14F-4D97-AF65-F5344CB8AC3E}">
        <p14:creationId xmlns:p14="http://schemas.microsoft.com/office/powerpoint/2010/main" val="17848876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2D4D08-A3B5-47BB-9F65-7926F40236DE}"/>
              </a:ext>
            </a:extLst>
          </p:cNvPr>
          <p:cNvCxnSpPr>
            <a:stCxn xmlns:a="http://schemas.openxmlformats.org/drawingml/2006/main" id="11" idx="6"/>
            <a:endCxn xmlns:a="http://schemas.openxmlformats.org/drawingml/2006/main" id="12" idx="2"/>
          </p:cNvCxnSpPr>
          <p:nvPr/>
        </p:nvCxnSpPr>
        <p:spPr>
          <a:xfrm xmlns:a="http://schemas.openxmlformats.org/drawingml/2006/main" flipV="1">
            <a:off x="1924050" y="3295650"/>
            <a:ext cx="3143250" cy="1466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55555"/>
            </a:solidFill>
          </a:ln>
        </p:spPr>
      </p:cxnSp>
      <p:sp>
        <p:nvSpPr>
          <p:cNvPr id="23" name="section">
            <a:extLst xmlns:a="http://schemas.openxmlformats.org/drawingml/2006/main">
              <a:ext uri="{FF2B5EF4-FFF2-40B4-BE49-F238E27FC236}">
                <a16:creationId xmlns:a16="http://schemas.microsoft.com/office/drawing/2014/main" id="{ED37D1A4-280D-458E-9F91-13705C667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7575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75757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575757"/>
                </a:solidFill>
                <a:latin typeface="Courier New"/>
                <a:ea typeface="Courier New"/>
                <a:cs typeface="Courier New"/>
              </a:rPr>
              <a:t>04  /  SUBSEQUENT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C8500C-CF0C-47CC-94E4-D5EC75729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154A3AB-D788-449F-8594-05E06A5E2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90600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 target for expected sensing usage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E9F894B1-8A78-4A13-B403-6E588B847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7575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75757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575757"/>
                </a:solidFill>
                <a:latin typeface="Courier New"/>
                <a:ea typeface="Courier New"/>
                <a:cs typeface="Courier New"/>
              </a:rPr>
              <a:t>IWAI 2026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7E3CD274-066A-4482-A8D2-C48015E8B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032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7575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575757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575757"/>
                </a:solidFill>
                <a:latin typeface="Courier New"/>
                <a:ea typeface="Courier New"/>
                <a:cs typeface="Courier New"/>
              </a:rPr>
              <a:t>4 / 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5FF921-C928-4E62-9806-3CE83F551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9775"/>
            <a:ext cx="5953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Two policies can bracket the target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1D18D5-8F82-4094-ABB5-52587FB86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14650"/>
            <a:ext cx="1905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FB4D44-C96E-4FBB-8D38-FEC44C44D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52700"/>
            <a:ext cx="342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75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7575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75757"/>
                </a:solidFill>
                <a:latin typeface="Arial"/>
                <a:ea typeface="Arial"/>
                <a:cs typeface="Arial"/>
              </a:rPr>
              <a:t>Expected usage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9AAD9F-0AA6-42B0-A83E-2955451B4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057650"/>
            <a:ext cx="49815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77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6A707F-31FC-400D-88C4-784C5F0FE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38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D03CA6-2C71-453A-93CB-7291C833A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686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B827A0-B408-4F6D-A82D-4A3D2E4C8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2194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7935A8-4546-43EE-ABF9-60AF65AF5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943350"/>
            <a:ext cx="228600" cy="2286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4E9323-860A-4D6D-8CDC-686E8027C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143375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Mixture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6F11F2-7146-445E-B5D8-CFE88051B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525780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75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7575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75757"/>
                </a:solidFill>
                <a:latin typeface="Arial"/>
                <a:ea typeface="Arial"/>
                <a:cs typeface="Arial"/>
              </a:rPr>
              <a:t>Lower usage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44D0AD-5F21-48E0-8274-022B1654F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257800"/>
            <a:ext cx="2238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75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7575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75757"/>
                </a:solidFill>
                <a:latin typeface="Arial"/>
                <a:ea typeface="Arial"/>
                <a:cs typeface="Arial"/>
              </a:rPr>
              <a:t>Higher usage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B862A0-93EC-4A33-8672-C64A7975F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721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75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7575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75757"/>
                </a:solidFill>
                <a:latin typeface="Arial"/>
                <a:ea typeface="Arial"/>
                <a:cs typeface="Arial"/>
              </a:rPr>
              <a:t>Schematic calibration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ABD32D-6D1A-4A02-A927-54DE2B7EE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76550"/>
            <a:ext cx="40957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5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≤ 0.13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43F709-8CEC-4F2B-9480-79270DD26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95725"/>
            <a:ext cx="4286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observations from target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D9DAF2-CC0B-4D61-AF8F-C29DA1475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581525"/>
            <a:ext cx="4286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75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57575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75757"/>
                </a:solidFill>
                <a:latin typeface="Arial"/>
                <a:ea typeface="Arial"/>
                <a:cs typeface="Arial"/>
              </a:rPr>
              <a:t>Largest held-out mean error</a:t>
            </a:r>
          </a:p>
          <a:p xmlns:a="http://schemas.openxmlformats.org/drawingml/2006/main">
            <a:pPr algn="l">
              <a:defRPr sz="1950" b="0">
                <a:solidFill>
                  <a:srgbClr val="57575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75757"/>
                </a:solidFill>
                <a:latin typeface="Arial"/>
                <a:ea typeface="Arial"/>
                <a:cs typeface="Arial"/>
              </a:rPr>
              <a:t>across 12 attainable cases.</a:t>
            </a:r>
          </a:p>
          <a:p xmlns:a="http://schemas.openxmlformats.org/drawingml/2006/main">
            <a:pPr algn="l">
              <a:defRPr sz="1950" b="0">
                <a:solidFill>
                  <a:srgbClr val="57575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75757"/>
                </a:solidFill>
                <a:latin typeface="Arial"/>
                <a:ea typeface="Arial"/>
                <a:cs typeface="Arial"/>
              </a:rPr>
              <a:t>Tiger, Diagnosis and Bandit.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7CAE4F-D3C7-44A5-A9ED-3596EBD4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05525"/>
            <a:ext cx="1076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75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7575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75757"/>
                </a:solidFill>
                <a:latin typeface="Arial"/>
                <a:ea typeface="Arial"/>
                <a:cs typeface="Arial"/>
              </a:rPr>
              <a:t>Calibration-derived targets. Per-episode usage can exceed B. Reward need not be optimal.</a:t>
            </a:r>
          </a:p>
        </p:txBody>
      </p:sp>
    </p:spTree>
    <p:extLst>
      <p:ext uri="{BB962C8B-B14F-4D97-AF65-F5344CB8AC3E}">
        <p14:creationId xmlns:p14="http://schemas.microsoft.com/office/powerpoint/2010/main" val="514380641"/>
      </p:ext>
    </p:extLst>
  </p:cSld>
</p:sld>
</file>

<file path=ppt/theme/theme1.xml><?xml version="1.0" encoding="utf-8"?>
<a:theme xmlns:a="http://schemas.openxmlformats.org/drawingml/2006/main" name="ChatGPT">
  <a:themeElements>
    <a:clrScheme name="Monochrome">
      <a:dk1>
        <a:srgbClr val="000000"/>
      </a:dk1>
      <a:lt1>
        <a:srgbClr val="FFFFFF"/>
      </a:lt1>
      <a:dk2>
        <a:srgbClr val="111111"/>
      </a:dk2>
      <a:lt2>
        <a:srgbClr val="D4D4D4"/>
      </a:lt2>
      <a:accent1>
        <a:srgbClr val="111111"/>
      </a:accent1>
      <a:accent2>
        <a:srgbClr val="777777"/>
      </a:accent2>
      <a:accent3>
        <a:srgbClr val="BBBBBB"/>
      </a:accent3>
      <a:accent4>
        <a:srgbClr val="444444"/>
      </a:accent4>
      <a:accent5>
        <a:srgbClr val="999999"/>
      </a:accent5>
      <a:accent6>
        <a:srgbClr val="DDDDDD"/>
      </a:accent6>
      <a:hlink>
        <a:srgbClr val="111111"/>
      </a:hlink>
      <a:folHlink>
        <a:srgbClr val="575757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Monochrom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2026-10-09T22:45:49.8850000Z</dcterms:created>
  <dcterms:modified xsi:type="dcterms:W3CDTF">2026-10-09T22:45:49.8850000Z</dcterms:modified>
</coreProperties>
</file>